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38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8010" y="4640223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5120640"/>
            <a:ext cx="2926080" cy="2926080"/>
          </a:xfrm>
          <a:prstGeom prst="ellipse">
            <a:avLst/>
          </a:prstGeom>
          <a:solidFill>
            <a:srgbClr val="00E5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10332720" cy="3063240"/>
          </a:xfrm>
          <a:prstGeom prst="roundRect">
            <a:avLst>
              <a:gd name="adj" fmla="val 417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7160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01 · SEMINÁRIO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69748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</a:t>
            </a:r>
            <a:r>
              <a:rPr lang="en-US" sz="4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en-US" sz="4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703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comparativo prático entre duas bibliotecas de testes unitários para Java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 apresentação: 04/09/2026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331720"/>
            <a:ext cx="914400" cy="91440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27CABDC-7E7E-9527-E305-6F26194A8BFD}"/>
              </a:ext>
            </a:extLst>
          </p:cNvPr>
          <p:cNvSpPr txBox="1"/>
          <p:nvPr/>
        </p:nvSpPr>
        <p:spPr>
          <a:xfrm>
            <a:off x="1017918" y="714107"/>
            <a:ext cx="74445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</a:rPr>
              <a:t>André Aganete Freitas — RA: 325131144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</a:rPr>
              <a:t>Samuel Antunes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</a:rPr>
              <a:t>Garandy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</a:rPr>
              <a:t> Fernandes — RA: 325112237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</a:rPr>
              <a:t>Juan Luiz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</a:rPr>
              <a:t>Amancio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</a:rPr>
              <a:t> de Oliveira — RA: 32511586 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78B1F94C-46A0-89E7-697A-7D28AA2098A1}"/>
              </a:ext>
            </a:extLst>
          </p:cNvPr>
          <p:cNvSpPr/>
          <p:nvPr/>
        </p:nvSpPr>
        <p:spPr>
          <a:xfrm>
            <a:off x="-763149" y="-1176754"/>
            <a:ext cx="4998719" cy="2117033"/>
          </a:xfrm>
          <a:prstGeom prst="ellipse">
            <a:avLst/>
          </a:prstGeom>
          <a:solidFill>
            <a:srgbClr val="00E5FF">
              <a:alpha val="7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CONTEXTUALIZANDO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testes unitários?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51560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84248"/>
            <a:ext cx="640080" cy="640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18562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 cada componente isoladamente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22199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se uma função, método ou classe se comporta como esperado, sem depender de outras partes do sistema.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1051560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01568"/>
            <a:ext cx="640080" cy="6400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27355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Detectam problemas cedo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363931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são encontrados ainda durante o desenvolvimento, antes de chegarem à integração ou à produção.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526280"/>
            <a:ext cx="1051560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18888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46908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bibliotecas para cada linguagem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505663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Python, JavaScript e C# têm frameworks próprios — como JUnit, xUnit, NUnit, Mocha e Pytest — para criar e executar esses testes.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GRUPO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bibliotecas, uma linguagem: Java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1031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0E5FF">
              <a:alpha val="22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304288"/>
            <a:ext cx="420624" cy="4206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de mercado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0690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testes mais usado no ecossistema Java, mantido pela comunidade JUnit Team e com integração nativa no ecossistema (Maven, Gradle, IDEs).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1783080"/>
            <a:ext cx="521208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21031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30428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92240" y="3063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no JUnit, com mais recursos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40690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para superar limitações de versões antigas do JUnit, trazendo testes paralelos, agrupamento e configuração flexível via XML.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126480" cy="4206240"/>
          </a:xfrm>
          <a:prstGeom prst="roundRect">
            <a:avLst>
              <a:gd name="adj" fmla="val 304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modular: Jupiter, Vintage e Platform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743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 simples: @Test, @BeforeEach, @AfterEach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520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nativas: assertEquals(esperado, atual)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297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testes parametrizados e aninhados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2064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71600" y="5074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nativa com Maven, Gradle e principais IDEs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7040880" y="1737360"/>
            <a:ext cx="4480560" cy="4206240"/>
          </a:xfrm>
          <a:prstGeom prst="roundRect">
            <a:avLst>
              <a:gd name="adj" fmla="val 30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057400"/>
            <a:ext cx="594360" cy="5943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360920" y="2743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o padrão</a:t>
            </a:r>
            <a:endParaRPr lang="en-US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7360920" y="35204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biblioteca de testes mais adotada em projetos Java, com grande comunidade, documentação extensa e suporte direto das ferramentas de build mais usadas do mercado.</a:t>
            </a:r>
            <a:endParaRPr lang="en-US" sz="125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391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e documentação enormes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encontrar exemplos, tutoriais e suporte para qualquer dúvida.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3911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suave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simples e anotações intuitivas, ideal para quem está começando.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1363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nativa com o ecossistema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4224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configuração extra em Maven, Gradle, Spring e IDEs populares.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36576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1363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9516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parametrizados nativos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6995160" y="4224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rodar o mesmo teste com múltiplos conjuntos de dados facilmente.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negativos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391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paralela mais limitada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testes paralelos é menos direto que em outras bibliotecas como o TestNG.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3911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de testes menos flexível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possui um mecanismo nativo tão robusto quanto os "grupos" do TestNG.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1363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entre testes é desencorajada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4224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ordem ou dependência explícita entre métodos de teste exige contorno.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36576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1363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9516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via XML é limitada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6995160" y="4224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TestNG, não oferece um arquivo de suíte central para orquestrar execuções.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126480" cy="4206240"/>
          </a:xfrm>
          <a:prstGeom prst="roundRect">
            <a:avLst>
              <a:gd name="adj" fmla="val 304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965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 próprias: @Test, @BeforeMethod, @AfterMethod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743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Assertions: Assert.assertEquals(atual, esperado)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520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nativo a testes paralelos e distribuídos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297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de testes com o atributo groups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2064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71600" y="5074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suítes via arquivo testng.xml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7040880" y="1737360"/>
            <a:ext cx="4480560" cy="4206240"/>
          </a:xfrm>
          <a:prstGeom prst="roundRect">
            <a:avLst>
              <a:gd name="adj" fmla="val 304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057400"/>
            <a:ext cx="594360" cy="5943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360920" y="2743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avançados</a:t>
            </a:r>
            <a:endParaRPr lang="en-US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7360920" y="35204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criado para cobrir cenários que o JUnit não atendia bem — testes de integração, execução paralela e dependências explícitas entre métodos de teste.</a:t>
            </a:r>
            <a:endParaRPr lang="en-US" sz="1250" dirty="0"/>
          </a:p>
        </p:txBody>
      </p:sp>
      <p:sp>
        <p:nvSpPr>
          <p:cNvPr id="21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391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paralela poderosa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testes em paralelo por método, classe ou suíte, reduzindo o tempo total.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3911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flexível com groups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organizar e executar apenas subconjuntos específicos de testes.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1363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entre testes é nativa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4224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atributo dependsOnMethods define ordem de execução de forma explícita.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36576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1363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9516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suíte (testng.xml)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6995160" y="4224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a configuração de quais testes, grupos e parâmetros executar.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negativos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39112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menor que a do JUnit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exemplos, plugins e materiais de estudo disponíveis.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3911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um pouco maior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235000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extras (groups, XML de suíte) exigem mais configuração inicial.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1363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"padrão" no mercado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4224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projetos e vagas assumem JUnit como framework padrão em Java.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36576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1363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9516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assert invertida gera confusão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6995160" y="42245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assertEquals(atual, esperado) é o oposto do JUnit e pode causar erros ao migrar.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org.junit.jupiter.api.Test;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org.junit.jupiter.api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.Assertions.assertEquals;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CalculadoraTest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@Test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deveSomarDoisNumeros()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Calculadora calc 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Calculadora();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assertEquals(5,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calc.somar(2, 3));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3931920" cy="4206240"/>
          </a:xfrm>
          <a:prstGeom prst="roundRect">
            <a:avLst>
              <a:gd name="adj" fmla="val 32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9659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4124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(console)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60604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CalculadoraTest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✔ deveSomarDoisNumeros()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run: 1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Failures: 0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 0.02s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42519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em assertEquals, o primeiro argumento é sempre o valor esperado.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766560" cy="4206240"/>
          </a:xfrm>
          <a:prstGeom prst="roundRect">
            <a:avLst>
              <a:gd name="adj" fmla="val 217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org.testng.annotations.Test;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org.testng.Assert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.assertEquals;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CalculadoraTest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@Test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deveSomarDoisNumeros() {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Calculadora calc =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Calculadora();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assertEquals(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calc.somar(2, 3), 5);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3931920" cy="4206240"/>
          </a:xfrm>
          <a:prstGeom prst="roundRect">
            <a:avLst>
              <a:gd name="adj" fmla="val 32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9659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41248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(console)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60604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PASSED: deveSomarDoisNumeros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tests: 1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Passes: 1, Failures: 0, Skips: 0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42519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chave: em TestNG a ordem é (atual, esperado) — o inverso do JUnit.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A LADO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direta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515600" cy="4160520"/>
          </a:xfrm>
          <a:prstGeom prst="roundRect">
            <a:avLst>
              <a:gd name="adj" fmla="val 3077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965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9659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395728"/>
            <a:ext cx="10058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6060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do assertEquals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060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esperado, atual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60604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atual, esperado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3191256"/>
            <a:ext cx="100584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2644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paralela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644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básica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26440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Nativa e flexível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3849624"/>
            <a:ext cx="100584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9227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de testes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9227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classes/tags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39227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atributo groups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4507992"/>
            <a:ext cx="100584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5811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suíte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45811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possui arquivo próprio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58114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testng.xml dedicado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4400" y="5166360"/>
            <a:ext cx="100584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2395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no mercado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523951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alta (padrão)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523951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5120640"/>
            <a:ext cx="2926080" cy="2926080"/>
          </a:xfrm>
          <a:prstGeom prst="ellipse">
            <a:avLst/>
          </a:prstGeom>
          <a:solidFill>
            <a:srgbClr val="00E5FF">
              <a:alpha val="7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uma?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27432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574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JUnit 5 quando...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7432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é novo, a equipe é iniciante em testes, ou você quer o suporte mais amplo possível de ferramentas e comunidade.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212080" cy="2743200"/>
          </a:xfrm>
          <a:prstGeom prst="roundRect">
            <a:avLst>
              <a:gd name="adj" fmla="val 4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0574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TestNG quando...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7432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precisa de execução paralela robusta, dependências entre testes ou suítes complexas configuradas via XML.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754880"/>
            <a:ext cx="10515600" cy="1234440"/>
          </a:xfrm>
          <a:prstGeom prst="roundRect">
            <a:avLst>
              <a:gd name="adj" fmla="val 1037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1005840" y="49377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uma opção "melhor" — a escolha depende da complexidade do projeto, do tamanho da equipe e das necessidades de execução dos testes.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em Java  •  JUnit vs TestNG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1128</Words>
  <Application>Microsoft Office PowerPoint</Application>
  <PresentationFormat>Widescreen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 Aganete Freitas</cp:lastModifiedBy>
  <cp:revision>2</cp:revision>
  <dcterms:created xsi:type="dcterms:W3CDTF">2026-08-31T18:01:36Z</dcterms:created>
  <dcterms:modified xsi:type="dcterms:W3CDTF">2026-08-31T18:34:03Z</dcterms:modified>
</cp:coreProperties>
</file>